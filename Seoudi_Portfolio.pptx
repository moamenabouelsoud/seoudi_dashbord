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94" d="100"/>
          <a:sy n="94" d="100"/>
        </p:scale>
        <p:origin x="48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9743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4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0"/>
            <a:ext cx="3200400" cy="51435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833872" y="0"/>
            <a:ext cx="109728" cy="514350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822960"/>
            <a:ext cx="2011680" cy="2011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92240" y="29260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900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SINCE  1938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457200" y="50292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900" b="1" kern="0" spc="400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PROJECT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914400"/>
            <a:ext cx="52120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سعودي هايبرماركت
</a:t>
            </a:r>
            <a:endParaRPr lang="en-US" sz="3000" dirty="0"/>
          </a:p>
          <a:p>
            <a:pPr marL="0" indent="0" rtl="1">
              <a:buNone/>
            </a:pPr>
            <a:r>
              <a:rPr lang="en-US" sz="2000" dirty="0">
                <a:solidFill>
                  <a:srgbClr val="A8D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Analytics</a:t>
            </a:r>
            <a:endParaRPr lang="en-US" sz="3000" dirty="0"/>
          </a:p>
        </p:txBody>
      </p:sp>
      <p:sp>
        <p:nvSpPr>
          <p:cNvPr id="8" name="Shape 5"/>
          <p:cNvSpPr/>
          <p:nvPr/>
        </p:nvSpPr>
        <p:spPr>
          <a:xfrm>
            <a:off x="457200" y="2834640"/>
            <a:ext cx="1234440" cy="749808"/>
          </a:xfrm>
          <a:prstGeom prst="rect">
            <a:avLst/>
          </a:prstGeom>
          <a:solidFill>
            <a:srgbClr val="16381A"/>
          </a:solidFill>
          <a:ln w="12700">
            <a:solidFill>
              <a:srgbClr val="4A8C4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2871216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14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7.04M EGP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457200" y="327355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800" dirty="0">
                <a:solidFill>
                  <a:srgbClr val="A8D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إجمالي الإيراد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1828800" y="2834640"/>
            <a:ext cx="1234440" cy="749808"/>
          </a:xfrm>
          <a:prstGeom prst="rect">
            <a:avLst/>
          </a:prstGeom>
          <a:solidFill>
            <a:srgbClr val="16381A"/>
          </a:solidFill>
          <a:ln w="12700">
            <a:solidFill>
              <a:srgbClr val="4A8C4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828800" y="2871216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14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32.2%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828800" y="327355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800" dirty="0">
                <a:solidFill>
                  <a:srgbClr val="A8D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3200400" y="2834640"/>
            <a:ext cx="1234440" cy="749808"/>
          </a:xfrm>
          <a:prstGeom prst="rect">
            <a:avLst/>
          </a:prstGeom>
          <a:solidFill>
            <a:srgbClr val="16381A"/>
          </a:solidFill>
          <a:ln w="12700">
            <a:solidFill>
              <a:srgbClr val="4A8C4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200400" y="2871216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14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+13%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3200400" y="327355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800" dirty="0">
                <a:solidFill>
                  <a:srgbClr val="A8D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نمو 2023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4572000" y="2834640"/>
            <a:ext cx="1234440" cy="749808"/>
          </a:xfrm>
          <a:prstGeom prst="rect">
            <a:avLst/>
          </a:prstGeom>
          <a:solidFill>
            <a:srgbClr val="16381A"/>
          </a:solidFill>
          <a:ln w="12700">
            <a:solidFill>
              <a:srgbClr val="4A8C4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0" y="2871216"/>
            <a:ext cx="12344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14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فرع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4572000" y="3273552"/>
            <a:ext cx="1234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800" dirty="0">
                <a:solidFill>
                  <a:srgbClr val="A8D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مدن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3749040"/>
            <a:ext cx="5212080" cy="27432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3840480"/>
            <a:ext cx="5212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Moamen · Data Analyst
</a:t>
            </a:r>
            <a:endParaRPr lang="en-US" sz="1100" dirty="0"/>
          </a:p>
          <a:p>
            <a:pPr rtl="1"/>
            <a:r>
              <a:rPr lang="en-US" sz="900" dirty="0">
                <a:solidFill>
                  <a:srgbClr val="A8D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Excel  ·  Power BI  · Python.  50,000 معاملة  ·  2021–2023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C4A1E"/>
          </a:solidFill>
          <a:ln w="12700">
            <a:solidFill>
              <a:srgbClr val="1C4A1E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91440"/>
            <a:ext cx="658368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0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نظرة عامة على المشروع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365760" y="493776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8D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274320" y="960120"/>
            <a:ext cx="402336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DD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960120"/>
            <a:ext cx="4023360" cy="365760"/>
          </a:xfrm>
          <a:prstGeom prst="rect">
            <a:avLst/>
          </a:prstGeom>
          <a:solidFill>
            <a:srgbClr val="1C4A1E"/>
          </a:solidFill>
          <a:ln w="12700">
            <a:solidFill>
              <a:srgbClr val="1C4A1E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74320" y="9601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السياق والهدف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11480" y="1371600"/>
            <a:ext cx="37490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 rtl="1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سعودي هايبرماركت سلسلة تجزئة مصرية تأسست 1938، تضم 20 فرعاً في 9 مدن.</a:t>
            </a:r>
            <a:endParaRPr lang="en-US" sz="1000" dirty="0"/>
          </a:p>
          <a:p>
            <a:pPr marL="0" indent="0">
              <a:lnSpc>
                <a:spcPct val="150000"/>
              </a:lnSpc>
              <a:buNone/>
            </a:pPr>
            <a:endParaRPr lang="en-US" sz="1000" dirty="0"/>
          </a:p>
          <a:p>
            <a:pPr marL="0" indent="0" algn="r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:</a:t>
            </a:r>
            <a:r>
              <a:rPr lang="en-US" sz="1000" dirty="0" err="1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الهدف</a:t>
            </a:r>
            <a:endParaRPr lang="en-US" sz="1000" dirty="0">
              <a:solidFill>
                <a:srgbClr val="1A2E1B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r" rtl="1">
              <a:lnSpc>
                <a:spcPct val="150000"/>
              </a:lnSpc>
              <a:buNone/>
            </a:pPr>
            <a:r>
              <a:rPr lang="en-US" sz="1000" dirty="0" err="1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تحليل</a:t>
            </a:r>
            <a:r>
              <a:rPr lang="en-US" sz="100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أداء المبيعات 2021–2023 للإجابة على أسئلة بيزنس محددة.</a:t>
            </a:r>
            <a:endParaRPr lang="en-US" sz="1000" dirty="0"/>
          </a:p>
          <a:p>
            <a:pPr marL="0" indent="0" algn="r">
              <a:lnSpc>
                <a:spcPct val="150000"/>
              </a:lnSpc>
              <a:buNone/>
            </a:pPr>
            <a:endParaRPr lang="en-US" sz="1000" dirty="0"/>
          </a:p>
          <a:p>
            <a:pPr marL="0" indent="0" algn="r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</a:t>
            </a:r>
            <a:r>
              <a:rPr lang="en-US" sz="1000" dirty="0" err="1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الأسئلة</a:t>
            </a:r>
            <a:endParaRPr lang="en-US" sz="1000" dirty="0"/>
          </a:p>
          <a:p>
            <a:pPr marL="0" indent="0" algn="r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الإيراد والنمو السنوي</a:t>
            </a:r>
            <a:endParaRPr lang="en-US" sz="1000" dirty="0"/>
          </a:p>
          <a:p>
            <a:pPr marL="0" indent="0" algn="r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أداء الفروع</a:t>
            </a:r>
            <a:endParaRPr lang="en-US" sz="1000" dirty="0"/>
          </a:p>
          <a:p>
            <a:pPr marL="0" indent="0" algn="r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هامش الفئات</a:t>
            </a:r>
            <a:endParaRPr lang="en-US" sz="1000" dirty="0"/>
          </a:p>
          <a:p>
            <a:pPr marL="0" indent="0" algn="r">
              <a:lnSpc>
                <a:spcPct val="150000"/>
              </a:lnSpc>
              <a:buNone/>
            </a:pPr>
            <a:r>
              <a:rPr lang="en-US" sz="100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· سلوك شرائح العملاء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480560" y="960120"/>
            <a:ext cx="438912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DD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480560" y="960120"/>
            <a:ext cx="4389120" cy="365760"/>
          </a:xfrm>
          <a:prstGeom prst="rect">
            <a:avLst/>
          </a:prstGeom>
          <a:solidFill>
            <a:srgbClr val="1C4A1E"/>
          </a:solidFill>
          <a:ln w="12700">
            <a:solidFill>
              <a:srgbClr val="1C4A1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0560" y="9601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الداتا سيت — 7 جداول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480560" y="1344168"/>
            <a:ext cx="43891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DD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572000" y="136245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950" b="1" dirty="0">
                <a:solidFill>
                  <a:srgbClr val="1C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المبيعات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5961888" y="1362456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9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50,000 صف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7077456" y="1362456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850" dirty="0">
                <a:solidFill>
                  <a:srgbClr val="6B7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المصدر الرئيسي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4480560" y="1783080"/>
            <a:ext cx="4389120" cy="411480"/>
          </a:xfrm>
          <a:prstGeom prst="rect">
            <a:avLst/>
          </a:prstGeom>
          <a:solidFill>
            <a:srgbClr val="E8F5E9"/>
          </a:solidFill>
          <a:ln w="12700">
            <a:solidFill>
              <a:srgbClr val="D4EDD5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0" y="180136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950" b="1" dirty="0">
                <a:solidFill>
                  <a:srgbClr val="1C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المنتجات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5961888" y="180136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9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 منتج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7077456" y="1801368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850" dirty="0">
                <a:solidFill>
                  <a:srgbClr val="6B7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فئات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4480560" y="2221992"/>
            <a:ext cx="43891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DD5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572000" y="224028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950" b="1" dirty="0">
                <a:solidFill>
                  <a:srgbClr val="1C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الفروع</a:t>
            </a:r>
            <a:endParaRPr lang="en-US" sz="950" dirty="0"/>
          </a:p>
        </p:txBody>
      </p:sp>
      <p:sp>
        <p:nvSpPr>
          <p:cNvPr id="23" name="Text 20"/>
          <p:cNvSpPr/>
          <p:nvPr/>
        </p:nvSpPr>
        <p:spPr>
          <a:xfrm>
            <a:off x="5961888" y="2240280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9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فرع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7077456" y="2240280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850" dirty="0">
                <a:solidFill>
                  <a:srgbClr val="6B7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/ Regional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480560" y="2660904"/>
            <a:ext cx="4389120" cy="411480"/>
          </a:xfrm>
          <a:prstGeom prst="rect">
            <a:avLst/>
          </a:prstGeom>
          <a:solidFill>
            <a:srgbClr val="E8F5E9"/>
          </a:solidFill>
          <a:ln w="12700">
            <a:solidFill>
              <a:srgbClr val="D4EDD5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572000" y="267919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950" b="1" dirty="0">
                <a:solidFill>
                  <a:srgbClr val="1C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العملاء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961888" y="2679192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9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15,000 عميل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7077456" y="2679192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850" dirty="0">
                <a:solidFill>
                  <a:srgbClr val="6B7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Segments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4480560" y="3099816"/>
            <a:ext cx="43891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DD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572000" y="311810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950" b="1" dirty="0">
                <a:solidFill>
                  <a:srgbClr val="1C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المخزون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5961888" y="3118104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9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1,600 صف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7077456" y="3118104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850" dirty="0">
                <a:solidFill>
                  <a:srgbClr val="6B7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حالة المخزون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4480560" y="3538728"/>
            <a:ext cx="4389120" cy="411480"/>
          </a:xfrm>
          <a:prstGeom prst="rect">
            <a:avLst/>
          </a:prstGeom>
          <a:solidFill>
            <a:srgbClr val="E8F5E9"/>
          </a:solidFill>
          <a:ln w="12700">
            <a:solidFill>
              <a:srgbClr val="D4EDD5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572000" y="3557016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950" b="1" dirty="0">
                <a:solidFill>
                  <a:srgbClr val="1C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أداء الفروع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5961888" y="3557016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9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صف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7077456" y="3557016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850" dirty="0">
                <a:solidFill>
                  <a:srgbClr val="6B7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 ملخصة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4480560" y="3977640"/>
            <a:ext cx="4389120" cy="41148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DD5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572000" y="399592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950" b="1" dirty="0">
                <a:solidFill>
                  <a:srgbClr val="1C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القاموس</a:t>
            </a:r>
            <a:endParaRPr lang="en-US" sz="950" dirty="0"/>
          </a:p>
        </p:txBody>
      </p:sp>
      <p:sp>
        <p:nvSpPr>
          <p:cNvPr id="39" name="Text 36"/>
          <p:cNvSpPr/>
          <p:nvPr/>
        </p:nvSpPr>
        <p:spPr>
          <a:xfrm>
            <a:off x="5961888" y="3995928"/>
            <a:ext cx="1097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9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7077456" y="3995928"/>
            <a:ext cx="17190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850" dirty="0">
                <a:solidFill>
                  <a:srgbClr val="6B7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وصف الأعمدة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C4A1E"/>
          </a:solidFill>
          <a:ln w="12700">
            <a:solidFill>
              <a:srgbClr val="1C4A1E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A8D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سعودي هايبرماركت  |  Moamen — Data Analyst  |  Excel &amp; Power BI &amp; Python |  1 / 6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C4A1E"/>
          </a:solidFill>
          <a:ln w="12700">
            <a:solidFill>
              <a:srgbClr val="1C4A1E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91440"/>
            <a:ext cx="658368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0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 rtl="1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النتائج المالية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365760" y="493776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rtl="1">
              <a:buNone/>
            </a:pPr>
            <a:r>
              <a:rPr lang="en-US" sz="1000" i="1" dirty="0">
                <a:solidFill>
                  <a:srgbClr val="A8D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Financial Results · 2021–2023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274320" y="960120"/>
            <a:ext cx="2011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DD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960120"/>
            <a:ext cx="54864" cy="9601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02336" y="1051560"/>
            <a:ext cx="1847088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rtl="1">
              <a:buNone/>
            </a:pPr>
            <a:r>
              <a:rPr lang="en-US" sz="2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7.04M EGP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402336" y="1555394"/>
            <a:ext cx="184708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rtl="1">
              <a:buNone/>
            </a:pPr>
            <a:r>
              <a:rPr lang="en-US" sz="900" dirty="0">
                <a:solidFill>
                  <a:srgbClr val="6B7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إجمالي الإيراد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2423160" y="960120"/>
            <a:ext cx="2011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DD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2423160" y="960120"/>
            <a:ext cx="54864" cy="960120"/>
          </a:xfrm>
          <a:prstGeom prst="rect">
            <a:avLst/>
          </a:prstGeom>
          <a:solidFill>
            <a:srgbClr val="4A8C4D"/>
          </a:solidFill>
          <a:ln w="12700">
            <a:solidFill>
              <a:srgbClr val="4A8C4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551176" y="1051560"/>
            <a:ext cx="1847088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rtl="1">
              <a:buNone/>
            </a:pPr>
            <a:r>
              <a:rPr lang="en-US" sz="2000" b="1" dirty="0">
                <a:solidFill>
                  <a:srgbClr val="4A8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2.27M EGP</a:t>
            </a:r>
            <a:endParaRPr lang="en-US" sz="2000" dirty="0"/>
          </a:p>
        </p:txBody>
      </p:sp>
      <p:sp>
        <p:nvSpPr>
          <p:cNvPr id="13" name="Text 10"/>
          <p:cNvSpPr/>
          <p:nvPr/>
        </p:nvSpPr>
        <p:spPr>
          <a:xfrm>
            <a:off x="2551176" y="1555394"/>
            <a:ext cx="184708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/>
            <a:r>
              <a:rPr lang="en-US" sz="900" dirty="0">
                <a:solidFill>
                  <a:srgbClr val="6B7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إجمالي </a:t>
            </a:r>
            <a:r>
              <a:rPr lang="en-US" sz="900" dirty="0" err="1">
                <a:solidFill>
                  <a:srgbClr val="6B7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الربح</a:t>
            </a:r>
            <a:r>
              <a:rPr lang="en-US" sz="900" dirty="0">
                <a:solidFill>
                  <a:srgbClr val="6B7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Gross Profit —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572000" y="960120"/>
            <a:ext cx="20116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DD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572000" y="960120"/>
            <a:ext cx="54864" cy="96012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4700016" y="1051560"/>
            <a:ext cx="1847088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rtl="1">
              <a:buNone/>
            </a:pPr>
            <a:r>
              <a:rPr lang="en-US" sz="20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+13%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4700016" y="1555394"/>
            <a:ext cx="184708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rtl="1">
              <a:buNone/>
            </a:pPr>
            <a:r>
              <a:rPr lang="en-US" sz="900" dirty="0">
                <a:solidFill>
                  <a:srgbClr val="6B7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نمو الإيراد 2023 — YoY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6720840" y="960120"/>
            <a:ext cx="214884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DD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720840" y="960120"/>
            <a:ext cx="54864" cy="9601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848856" y="1051560"/>
            <a:ext cx="1984248" cy="52806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rtl="1">
              <a:buNone/>
            </a:pPr>
            <a:r>
              <a:rPr lang="en-US" sz="2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32.2%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6848856" y="1555394"/>
            <a:ext cx="1984248" cy="2880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rtl="1">
              <a:buNone/>
            </a:pPr>
            <a:r>
              <a:rPr lang="en-US" sz="900" dirty="0">
                <a:solidFill>
                  <a:srgbClr val="6B7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الكلي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274320" y="2057400"/>
            <a:ext cx="8595360" cy="347472"/>
          </a:xfrm>
          <a:prstGeom prst="rect">
            <a:avLst/>
          </a:prstGeom>
          <a:solidFill>
            <a:srgbClr val="1C4A1E"/>
          </a:solidFill>
          <a:ln w="12700">
            <a:solidFill>
              <a:srgbClr val="1C4A1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274320" y="2057400"/>
            <a:ext cx="914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السنة</a:t>
            </a:r>
            <a:endParaRPr lang="en-US" sz="950" dirty="0"/>
          </a:p>
        </p:txBody>
      </p:sp>
      <p:sp>
        <p:nvSpPr>
          <p:cNvPr id="24" name="Text 21"/>
          <p:cNvSpPr/>
          <p:nvPr/>
        </p:nvSpPr>
        <p:spPr>
          <a:xfrm>
            <a:off x="1188720" y="205740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الإيراد (EGP)</a:t>
            </a:r>
            <a:endParaRPr lang="en-US" sz="950" dirty="0"/>
          </a:p>
        </p:txBody>
      </p:sp>
      <p:sp>
        <p:nvSpPr>
          <p:cNvPr id="25" name="Text 22"/>
          <p:cNvSpPr/>
          <p:nvPr/>
        </p:nvSpPr>
        <p:spPr>
          <a:xfrm>
            <a:off x="2834640" y="2057400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الربح (EGP)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4480560" y="205740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</a:t>
            </a:r>
            <a:endParaRPr lang="en-US" sz="950" dirty="0"/>
          </a:p>
        </p:txBody>
      </p:sp>
      <p:sp>
        <p:nvSpPr>
          <p:cNvPr id="27" name="Text 24"/>
          <p:cNvSpPr/>
          <p:nvPr/>
        </p:nvSpPr>
        <p:spPr>
          <a:xfrm>
            <a:off x="5760720" y="2057400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YoY Growth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7040880" y="2057400"/>
            <a:ext cx="1828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أقوى ربع</a:t>
            </a:r>
            <a:endParaRPr lang="en-US" sz="950" dirty="0"/>
          </a:p>
        </p:txBody>
      </p:sp>
      <p:sp>
        <p:nvSpPr>
          <p:cNvPr id="29" name="Shape 26"/>
          <p:cNvSpPr/>
          <p:nvPr/>
        </p:nvSpPr>
        <p:spPr>
          <a:xfrm>
            <a:off x="274320" y="2423160"/>
            <a:ext cx="91440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4EDD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20040" y="2441448"/>
            <a:ext cx="8412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95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1188720" y="2423160"/>
            <a:ext cx="164592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4EDD5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1234440" y="2441448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95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2,105,953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2834640" y="2423160"/>
            <a:ext cx="164592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4EDD5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2880360" y="2441448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95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500,459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4480560" y="2423160"/>
            <a:ext cx="128016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4EDD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526280" y="2441448"/>
            <a:ext cx="1207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95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23.8%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5760720" y="2423160"/>
            <a:ext cx="128016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4EDD5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5806440" y="2441448"/>
            <a:ext cx="1207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95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950" dirty="0"/>
          </a:p>
        </p:txBody>
      </p:sp>
      <p:sp>
        <p:nvSpPr>
          <p:cNvPr id="39" name="Shape 36"/>
          <p:cNvSpPr/>
          <p:nvPr/>
        </p:nvSpPr>
        <p:spPr>
          <a:xfrm>
            <a:off x="7040880" y="2423160"/>
            <a:ext cx="182880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4EDD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086600" y="2441448"/>
            <a:ext cx="17556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95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274320" y="2825496"/>
            <a:ext cx="914400" cy="374904"/>
          </a:xfrm>
          <a:prstGeom prst="rect">
            <a:avLst/>
          </a:prstGeom>
          <a:solidFill>
            <a:srgbClr val="E8F5E9"/>
          </a:solidFill>
          <a:ln w="12700">
            <a:solidFill>
              <a:srgbClr val="D4EDD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320040" y="2843784"/>
            <a:ext cx="8412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95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1188720" y="2825496"/>
            <a:ext cx="1645920" cy="374904"/>
          </a:xfrm>
          <a:prstGeom prst="rect">
            <a:avLst/>
          </a:prstGeom>
          <a:solidFill>
            <a:srgbClr val="E8F5E9"/>
          </a:solidFill>
          <a:ln w="12700">
            <a:solidFill>
              <a:srgbClr val="D4EDD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234440" y="2843784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95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2,315,308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2834640" y="2825496"/>
            <a:ext cx="1645920" cy="374904"/>
          </a:xfrm>
          <a:prstGeom prst="rect">
            <a:avLst/>
          </a:prstGeom>
          <a:solidFill>
            <a:srgbClr val="E8F5E9"/>
          </a:solidFill>
          <a:ln w="12700">
            <a:solidFill>
              <a:srgbClr val="D4EDD5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2880360" y="2843784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95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743,931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4480560" y="2825496"/>
            <a:ext cx="1280160" cy="374904"/>
          </a:xfrm>
          <a:prstGeom prst="rect">
            <a:avLst/>
          </a:prstGeom>
          <a:solidFill>
            <a:srgbClr val="E8F5E9"/>
          </a:solidFill>
          <a:ln w="12700">
            <a:solidFill>
              <a:srgbClr val="D4EDD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4526280" y="2843784"/>
            <a:ext cx="1207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95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32.1%</a:t>
            </a:r>
            <a:endParaRPr lang="en-US" sz="950" dirty="0"/>
          </a:p>
        </p:txBody>
      </p:sp>
      <p:sp>
        <p:nvSpPr>
          <p:cNvPr id="49" name="Shape 46"/>
          <p:cNvSpPr/>
          <p:nvPr/>
        </p:nvSpPr>
        <p:spPr>
          <a:xfrm>
            <a:off x="5760720" y="2825496"/>
            <a:ext cx="1280160" cy="374904"/>
          </a:xfrm>
          <a:prstGeom prst="rect">
            <a:avLst/>
          </a:prstGeom>
          <a:solidFill>
            <a:srgbClr val="E8F5E9"/>
          </a:solidFill>
          <a:ln w="12700">
            <a:solidFill>
              <a:srgbClr val="D4EDD5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5806440" y="2843784"/>
            <a:ext cx="1207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9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+9.9%</a:t>
            </a:r>
            <a:endParaRPr lang="en-US" sz="950" dirty="0"/>
          </a:p>
        </p:txBody>
      </p:sp>
      <p:sp>
        <p:nvSpPr>
          <p:cNvPr id="51" name="Shape 48"/>
          <p:cNvSpPr/>
          <p:nvPr/>
        </p:nvSpPr>
        <p:spPr>
          <a:xfrm>
            <a:off x="7040880" y="2825496"/>
            <a:ext cx="1828800" cy="374904"/>
          </a:xfrm>
          <a:prstGeom prst="rect">
            <a:avLst/>
          </a:prstGeom>
          <a:solidFill>
            <a:srgbClr val="E8F5E9"/>
          </a:solidFill>
          <a:ln w="12700">
            <a:solidFill>
              <a:srgbClr val="D4EDD5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7086600" y="2843784"/>
            <a:ext cx="17556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95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274320" y="3227832"/>
            <a:ext cx="91440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4EDD5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320040" y="3246120"/>
            <a:ext cx="8412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95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950" dirty="0"/>
          </a:p>
        </p:txBody>
      </p:sp>
      <p:sp>
        <p:nvSpPr>
          <p:cNvPr id="55" name="Shape 52"/>
          <p:cNvSpPr/>
          <p:nvPr/>
        </p:nvSpPr>
        <p:spPr>
          <a:xfrm>
            <a:off x="1188720" y="3227832"/>
            <a:ext cx="164592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4EDD5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1234440" y="3246120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95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2,615,198</a:t>
            </a:r>
            <a:endParaRPr lang="en-US" sz="950" dirty="0"/>
          </a:p>
        </p:txBody>
      </p:sp>
      <p:sp>
        <p:nvSpPr>
          <p:cNvPr id="57" name="Shape 54"/>
          <p:cNvSpPr/>
          <p:nvPr/>
        </p:nvSpPr>
        <p:spPr>
          <a:xfrm>
            <a:off x="2834640" y="3227832"/>
            <a:ext cx="164592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4EDD5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2880360" y="3246120"/>
            <a:ext cx="157276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95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1,020,610</a:t>
            </a:r>
            <a:endParaRPr lang="en-US" sz="950" dirty="0"/>
          </a:p>
        </p:txBody>
      </p:sp>
      <p:sp>
        <p:nvSpPr>
          <p:cNvPr id="59" name="Shape 56"/>
          <p:cNvSpPr/>
          <p:nvPr/>
        </p:nvSpPr>
        <p:spPr>
          <a:xfrm>
            <a:off x="4480560" y="3227832"/>
            <a:ext cx="128016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4EDD5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4526280" y="3246120"/>
            <a:ext cx="1207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95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39.0%</a:t>
            </a:r>
            <a:endParaRPr lang="en-US" sz="950" dirty="0"/>
          </a:p>
        </p:txBody>
      </p:sp>
      <p:sp>
        <p:nvSpPr>
          <p:cNvPr id="61" name="Shape 58"/>
          <p:cNvSpPr/>
          <p:nvPr/>
        </p:nvSpPr>
        <p:spPr>
          <a:xfrm>
            <a:off x="5760720" y="3227832"/>
            <a:ext cx="128016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4EDD5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5806440" y="3246120"/>
            <a:ext cx="120700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9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+13.0%</a:t>
            </a:r>
            <a:endParaRPr lang="en-US" sz="950" dirty="0"/>
          </a:p>
        </p:txBody>
      </p:sp>
      <p:sp>
        <p:nvSpPr>
          <p:cNvPr id="63" name="Shape 60"/>
          <p:cNvSpPr/>
          <p:nvPr/>
        </p:nvSpPr>
        <p:spPr>
          <a:xfrm>
            <a:off x="7040880" y="3227832"/>
            <a:ext cx="1828800" cy="374904"/>
          </a:xfrm>
          <a:prstGeom prst="rect">
            <a:avLst/>
          </a:prstGeom>
          <a:solidFill>
            <a:srgbClr val="FFFFFF"/>
          </a:solidFill>
          <a:ln w="12700">
            <a:solidFill>
              <a:srgbClr val="D4EDD5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7086600" y="3246120"/>
            <a:ext cx="1755648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95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</a:t>
            </a:r>
            <a:endParaRPr lang="en-US" sz="950" dirty="0"/>
          </a:p>
        </p:txBody>
      </p:sp>
      <p:sp>
        <p:nvSpPr>
          <p:cNvPr id="65" name="Shape 62"/>
          <p:cNvSpPr/>
          <p:nvPr/>
        </p:nvSpPr>
        <p:spPr>
          <a:xfrm>
            <a:off x="274320" y="3657600"/>
            <a:ext cx="8595360" cy="804672"/>
          </a:xfrm>
          <a:prstGeom prst="rect">
            <a:avLst/>
          </a:prstGeom>
          <a:solidFill>
            <a:srgbClr val="1C4A1E"/>
          </a:solidFill>
          <a:ln w="12700">
            <a:solidFill>
              <a:srgbClr val="1C4A1E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457200" y="3657600"/>
            <a:ext cx="83210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الهامش تحسّن من 23.8% في 2021 إلى 39.0% في 2023 — يعني الشركة مش بس بتبيع أكتر، لكن بتربح أكثر من كل جنيه. الفرصة: تكثيف مستلزمات شخصية (Margin 45.6%).</a:t>
            </a:r>
            <a:endParaRPr lang="en-US" sz="1000" dirty="0"/>
          </a:p>
        </p:txBody>
      </p:sp>
      <p:sp>
        <p:nvSpPr>
          <p:cNvPr id="67" name="Shape 64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C4A1E"/>
          </a:solidFill>
          <a:ln w="12700">
            <a:solidFill>
              <a:srgbClr val="1C4A1E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A8D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سعودي هايبرماركت  |  Moamen — Data Analyst  |  Excel &amp; Power BI &amp; Python |  2 / 6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C4A1E"/>
          </a:solidFill>
          <a:ln w="12700">
            <a:solidFill>
              <a:srgbClr val="1C4A1E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91440"/>
            <a:ext cx="658368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0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تحليل الفروع والفئات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365760" y="493776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rtl="1">
              <a:buNone/>
            </a:pPr>
            <a:r>
              <a:rPr lang="en-US" sz="1000" i="1" dirty="0">
                <a:solidFill>
                  <a:srgbClr val="A8D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Branch &amp; Category Performance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274320" y="960120"/>
            <a:ext cx="4160520" cy="329184"/>
          </a:xfrm>
          <a:prstGeom prst="rect">
            <a:avLst/>
          </a:prstGeom>
          <a:solidFill>
            <a:srgbClr val="1C4A1E"/>
          </a:solidFill>
          <a:ln w="12700">
            <a:solidFill>
              <a:srgbClr val="1C4A1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960120"/>
            <a:ext cx="41605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أعلى 5 فروع + نمو YoY 2023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274320" y="1307592"/>
            <a:ext cx="41605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4EDD5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274320" y="1307592"/>
            <a:ext cx="45720" cy="493776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4048" y="13258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95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سيدي جابر</a:t>
            </a:r>
            <a:endParaRPr lang="en-US" sz="950" dirty="0"/>
          </a:p>
        </p:txBody>
      </p:sp>
      <p:sp>
        <p:nvSpPr>
          <p:cNvPr id="11" name="Text 8"/>
          <p:cNvSpPr/>
          <p:nvPr/>
        </p:nvSpPr>
        <p:spPr>
          <a:xfrm>
            <a:off x="1956816" y="13258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90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407,012 EGP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163824" y="132588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+15.7%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274320" y="1856232"/>
            <a:ext cx="4160520" cy="493776"/>
          </a:xfrm>
          <a:prstGeom prst="rect">
            <a:avLst/>
          </a:prstGeom>
          <a:solidFill>
            <a:srgbClr val="E8F5E9"/>
          </a:solidFill>
          <a:ln w="12700">
            <a:solidFill>
              <a:srgbClr val="D4EDD5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74320" y="1856232"/>
            <a:ext cx="45720" cy="493776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384048" y="187452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95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عين شمس</a:t>
            </a:r>
            <a:endParaRPr lang="en-US" sz="950" dirty="0"/>
          </a:p>
        </p:txBody>
      </p:sp>
      <p:sp>
        <p:nvSpPr>
          <p:cNvPr id="16" name="Text 13"/>
          <p:cNvSpPr/>
          <p:nvPr/>
        </p:nvSpPr>
        <p:spPr>
          <a:xfrm>
            <a:off x="1956816" y="18745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90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405,372 EGP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3163824" y="187452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+24.3%</a:t>
            </a:r>
            <a:endParaRPr lang="en-US" sz="1100" dirty="0"/>
          </a:p>
        </p:txBody>
      </p:sp>
      <p:sp>
        <p:nvSpPr>
          <p:cNvPr id="18" name="Shape 15"/>
          <p:cNvSpPr/>
          <p:nvPr/>
        </p:nvSpPr>
        <p:spPr>
          <a:xfrm>
            <a:off x="274320" y="2404872"/>
            <a:ext cx="41605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4EDD5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274320" y="2404872"/>
            <a:ext cx="45720" cy="493776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384048" y="242316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95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الزمالك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1956816" y="24231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90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404,873 EGP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3163824" y="242316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+19.6%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274320" y="2953512"/>
            <a:ext cx="4160520" cy="493776"/>
          </a:xfrm>
          <a:prstGeom prst="rect">
            <a:avLst/>
          </a:prstGeom>
          <a:solidFill>
            <a:srgbClr val="E8F5E9"/>
          </a:solidFill>
          <a:ln w="12700">
            <a:solidFill>
              <a:srgbClr val="D4EDD5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274320" y="2953512"/>
            <a:ext cx="45720" cy="493776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84048" y="297180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95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التجمع الخامس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1956816" y="29718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90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404,844 EGP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3163824" y="297180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11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+13.5%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274320" y="3502152"/>
            <a:ext cx="4160520" cy="493776"/>
          </a:xfrm>
          <a:prstGeom prst="rect">
            <a:avLst/>
          </a:prstGeom>
          <a:solidFill>
            <a:srgbClr val="FFFFFF"/>
          </a:solidFill>
          <a:ln w="12700">
            <a:solidFill>
              <a:srgbClr val="D4EDD5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274320" y="3502152"/>
            <a:ext cx="45720" cy="493776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384048" y="352044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95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مدينة نصر ⭐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1956816" y="35204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90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386,537 EGP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3163824" y="3520440"/>
            <a:ext cx="1188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11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+29.5%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274320" y="4096512"/>
            <a:ext cx="4160520" cy="384048"/>
          </a:xfrm>
          <a:prstGeom prst="rect">
            <a:avLst/>
          </a:prstGeom>
          <a:solidFill>
            <a:srgbClr val="E8F5E9"/>
          </a:solidFill>
          <a:ln w="12700">
            <a:solidFill>
              <a:srgbClr val="D4EDD5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347472" y="4096512"/>
            <a:ext cx="401421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900" b="1" dirty="0">
                <a:solidFill>
                  <a:srgbClr val="1C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مدينة نصر: أسرع نمو +29.5% رغم أنها ليست الأعلى إيراداً — مؤشر توسع</a:t>
            </a:r>
            <a:endParaRPr lang="en-US" sz="900" dirty="0"/>
          </a:p>
        </p:txBody>
      </p:sp>
      <p:sp>
        <p:nvSpPr>
          <p:cNvPr id="35" name="Shape 32"/>
          <p:cNvSpPr/>
          <p:nvPr/>
        </p:nvSpPr>
        <p:spPr>
          <a:xfrm>
            <a:off x="4663440" y="960120"/>
            <a:ext cx="4206240" cy="329184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663440" y="960120"/>
            <a:ext cx="42062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Gross Margin % بالفئة</a:t>
            </a:r>
            <a:endParaRPr lang="en-US" sz="1000" dirty="0"/>
          </a:p>
        </p:txBody>
      </p:sp>
      <p:sp>
        <p:nvSpPr>
          <p:cNvPr id="37" name="Shape 34"/>
          <p:cNvSpPr/>
          <p:nvPr/>
        </p:nvSpPr>
        <p:spPr>
          <a:xfrm>
            <a:off x="4663440" y="1307592"/>
            <a:ext cx="42062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4EDD5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4736592" y="132588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90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مستلزمات شخصية</a:t>
            </a:r>
            <a:endParaRPr lang="en-US" sz="900" dirty="0"/>
          </a:p>
        </p:txBody>
      </p:sp>
      <p:sp>
        <p:nvSpPr>
          <p:cNvPr id="39" name="Shape 36"/>
          <p:cNvSpPr/>
          <p:nvPr/>
        </p:nvSpPr>
        <p:spPr>
          <a:xfrm>
            <a:off x="6766560" y="1362456"/>
            <a:ext cx="1371600" cy="201168"/>
          </a:xfrm>
          <a:prstGeom prst="rect">
            <a:avLst/>
          </a:prstGeom>
          <a:solidFill>
            <a:srgbClr val="1C4A1E"/>
          </a:solidFill>
          <a:ln w="12700">
            <a:solidFill>
              <a:srgbClr val="1C4A1E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8211312" y="132588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950" b="1" dirty="0">
                <a:solidFill>
                  <a:srgbClr val="1C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45.6%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4663440" y="1645920"/>
            <a:ext cx="4206240" cy="310896"/>
          </a:xfrm>
          <a:prstGeom prst="rect">
            <a:avLst/>
          </a:prstGeom>
          <a:solidFill>
            <a:srgbClr val="E8F5E9"/>
          </a:solidFill>
          <a:ln w="12700">
            <a:solidFill>
              <a:srgbClr val="D4EDD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736592" y="166420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90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مخبوزات وحلويات</a:t>
            </a:r>
            <a:endParaRPr lang="en-US" sz="900" dirty="0"/>
          </a:p>
        </p:txBody>
      </p:sp>
      <p:sp>
        <p:nvSpPr>
          <p:cNvPr id="43" name="Shape 40"/>
          <p:cNvSpPr/>
          <p:nvPr/>
        </p:nvSpPr>
        <p:spPr>
          <a:xfrm>
            <a:off x="6766560" y="1700784"/>
            <a:ext cx="1165860" cy="20116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11312" y="1664208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9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38.9%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4663440" y="1984248"/>
            <a:ext cx="42062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4EDD5"/>
            </a:solidFill>
            <a:prstDash val="solid"/>
          </a:ln>
        </p:spPr>
      </p:sp>
      <p:sp>
        <p:nvSpPr>
          <p:cNvPr id="46" name="Text 43"/>
          <p:cNvSpPr/>
          <p:nvPr/>
        </p:nvSpPr>
        <p:spPr>
          <a:xfrm>
            <a:off x="4736592" y="200253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90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منظفات ومنزلية</a:t>
            </a:r>
            <a:endParaRPr lang="en-US" sz="900" dirty="0"/>
          </a:p>
        </p:txBody>
      </p:sp>
      <p:sp>
        <p:nvSpPr>
          <p:cNvPr id="47" name="Shape 44"/>
          <p:cNvSpPr/>
          <p:nvPr/>
        </p:nvSpPr>
        <p:spPr>
          <a:xfrm>
            <a:off x="6766560" y="2039112"/>
            <a:ext cx="1014984" cy="20116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8211312" y="2002536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9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33.7%</a:t>
            </a:r>
            <a:endParaRPr lang="en-US" sz="950" dirty="0"/>
          </a:p>
        </p:txBody>
      </p:sp>
      <p:sp>
        <p:nvSpPr>
          <p:cNvPr id="49" name="Shape 46"/>
          <p:cNvSpPr/>
          <p:nvPr/>
        </p:nvSpPr>
        <p:spPr>
          <a:xfrm>
            <a:off x="4663440" y="2322576"/>
            <a:ext cx="4206240" cy="310896"/>
          </a:xfrm>
          <a:prstGeom prst="rect">
            <a:avLst/>
          </a:prstGeom>
          <a:solidFill>
            <a:srgbClr val="E8F5E9"/>
          </a:solidFill>
          <a:ln w="12700">
            <a:solidFill>
              <a:srgbClr val="D4EDD5"/>
            </a:solidFill>
            <a:prstDash val="solid"/>
          </a:ln>
        </p:spPr>
      </p:sp>
      <p:sp>
        <p:nvSpPr>
          <p:cNvPr id="50" name="Text 47"/>
          <p:cNvSpPr/>
          <p:nvPr/>
        </p:nvSpPr>
        <p:spPr>
          <a:xfrm>
            <a:off x="4736592" y="2340864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90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خضار وفاكهة</a:t>
            </a:r>
            <a:endParaRPr lang="en-US" sz="900" dirty="0"/>
          </a:p>
        </p:txBody>
      </p:sp>
      <p:sp>
        <p:nvSpPr>
          <p:cNvPr id="51" name="Shape 48"/>
          <p:cNvSpPr/>
          <p:nvPr/>
        </p:nvSpPr>
        <p:spPr>
          <a:xfrm>
            <a:off x="6766560" y="2377440"/>
            <a:ext cx="973836" cy="201168"/>
          </a:xfrm>
          <a:prstGeom prst="rect">
            <a:avLst/>
          </a:prstGeom>
          <a:solidFill>
            <a:srgbClr val="4A8C4D"/>
          </a:solidFill>
          <a:ln w="12700">
            <a:solidFill>
              <a:srgbClr val="4A8C4D"/>
            </a:solidFill>
            <a:prstDash val="solid"/>
          </a:ln>
        </p:spPr>
      </p:sp>
      <p:sp>
        <p:nvSpPr>
          <p:cNvPr id="52" name="Text 49"/>
          <p:cNvSpPr/>
          <p:nvPr/>
        </p:nvSpPr>
        <p:spPr>
          <a:xfrm>
            <a:off x="8211312" y="2340864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950" b="1" dirty="0">
                <a:solidFill>
                  <a:srgbClr val="4A8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32.4%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4663440" y="2660904"/>
            <a:ext cx="42062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4EDD5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4736592" y="267919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90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منتجات الألبان</a:t>
            </a:r>
            <a:endParaRPr lang="en-US" sz="900" dirty="0"/>
          </a:p>
        </p:txBody>
      </p:sp>
      <p:sp>
        <p:nvSpPr>
          <p:cNvPr id="55" name="Shape 52"/>
          <p:cNvSpPr/>
          <p:nvPr/>
        </p:nvSpPr>
        <p:spPr>
          <a:xfrm>
            <a:off x="6766560" y="2715768"/>
            <a:ext cx="877824" cy="201168"/>
          </a:xfrm>
          <a:prstGeom prst="rect">
            <a:avLst/>
          </a:prstGeom>
          <a:solidFill>
            <a:srgbClr val="4A8C4D"/>
          </a:solidFill>
          <a:ln w="12700">
            <a:solidFill>
              <a:srgbClr val="4A8C4D"/>
            </a:solidFill>
            <a:prstDash val="solid"/>
          </a:ln>
        </p:spPr>
      </p:sp>
      <p:sp>
        <p:nvSpPr>
          <p:cNvPr id="56" name="Text 53"/>
          <p:cNvSpPr/>
          <p:nvPr/>
        </p:nvSpPr>
        <p:spPr>
          <a:xfrm>
            <a:off x="8211312" y="2679192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950" b="1" dirty="0">
                <a:solidFill>
                  <a:srgbClr val="4A8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29.4%</a:t>
            </a:r>
            <a:endParaRPr lang="en-US" sz="950" dirty="0"/>
          </a:p>
        </p:txBody>
      </p:sp>
      <p:sp>
        <p:nvSpPr>
          <p:cNvPr id="57" name="Shape 54"/>
          <p:cNvSpPr/>
          <p:nvPr/>
        </p:nvSpPr>
        <p:spPr>
          <a:xfrm>
            <a:off x="4663440" y="2999232"/>
            <a:ext cx="4206240" cy="310896"/>
          </a:xfrm>
          <a:prstGeom prst="rect">
            <a:avLst/>
          </a:prstGeom>
          <a:solidFill>
            <a:srgbClr val="E8F5E9"/>
          </a:solidFill>
          <a:ln w="12700">
            <a:solidFill>
              <a:srgbClr val="D4EDD5"/>
            </a:solidFill>
            <a:prstDash val="solid"/>
          </a:ln>
        </p:spPr>
      </p:sp>
      <p:sp>
        <p:nvSpPr>
          <p:cNvPr id="58" name="Text 55"/>
          <p:cNvSpPr/>
          <p:nvPr/>
        </p:nvSpPr>
        <p:spPr>
          <a:xfrm>
            <a:off x="4736592" y="301752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90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أغذية مجمدة</a:t>
            </a:r>
            <a:endParaRPr lang="en-US" sz="900" dirty="0"/>
          </a:p>
        </p:txBody>
      </p:sp>
      <p:sp>
        <p:nvSpPr>
          <p:cNvPr id="59" name="Shape 56"/>
          <p:cNvSpPr/>
          <p:nvPr/>
        </p:nvSpPr>
        <p:spPr>
          <a:xfrm>
            <a:off x="6766560" y="3054096"/>
            <a:ext cx="877824" cy="201168"/>
          </a:xfrm>
          <a:prstGeom prst="rect">
            <a:avLst/>
          </a:prstGeom>
          <a:solidFill>
            <a:srgbClr val="4A8C4D"/>
          </a:solidFill>
          <a:ln w="12700">
            <a:solidFill>
              <a:srgbClr val="4A8C4D"/>
            </a:solidFill>
            <a:prstDash val="solid"/>
          </a:ln>
        </p:spPr>
      </p:sp>
      <p:sp>
        <p:nvSpPr>
          <p:cNvPr id="60" name="Text 57"/>
          <p:cNvSpPr/>
          <p:nvPr/>
        </p:nvSpPr>
        <p:spPr>
          <a:xfrm>
            <a:off x="8211312" y="3017520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950" b="1" dirty="0">
                <a:solidFill>
                  <a:srgbClr val="4A8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29.2%</a:t>
            </a:r>
            <a:endParaRPr lang="en-US" sz="950" dirty="0"/>
          </a:p>
        </p:txBody>
      </p:sp>
      <p:sp>
        <p:nvSpPr>
          <p:cNvPr id="61" name="Shape 58"/>
          <p:cNvSpPr/>
          <p:nvPr/>
        </p:nvSpPr>
        <p:spPr>
          <a:xfrm>
            <a:off x="4663440" y="3337560"/>
            <a:ext cx="4206240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4EDD5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4736592" y="3355848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90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لحوم ودواجن</a:t>
            </a:r>
            <a:endParaRPr lang="en-US" sz="900" dirty="0"/>
          </a:p>
        </p:txBody>
      </p:sp>
      <p:sp>
        <p:nvSpPr>
          <p:cNvPr id="63" name="Shape 60"/>
          <p:cNvSpPr/>
          <p:nvPr/>
        </p:nvSpPr>
        <p:spPr>
          <a:xfrm>
            <a:off x="6766560" y="3392424"/>
            <a:ext cx="740664" cy="201168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64" name="Text 61"/>
          <p:cNvSpPr/>
          <p:nvPr/>
        </p:nvSpPr>
        <p:spPr>
          <a:xfrm>
            <a:off x="8211312" y="3355848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95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24.5%</a:t>
            </a:r>
            <a:endParaRPr lang="en-US" sz="950" dirty="0"/>
          </a:p>
        </p:txBody>
      </p:sp>
      <p:sp>
        <p:nvSpPr>
          <p:cNvPr id="65" name="Shape 62"/>
          <p:cNvSpPr/>
          <p:nvPr/>
        </p:nvSpPr>
        <p:spPr>
          <a:xfrm>
            <a:off x="4663440" y="3675888"/>
            <a:ext cx="4206240" cy="310896"/>
          </a:xfrm>
          <a:prstGeom prst="rect">
            <a:avLst/>
          </a:prstGeom>
          <a:solidFill>
            <a:srgbClr val="E8F5E9"/>
          </a:solidFill>
          <a:ln w="12700">
            <a:solidFill>
              <a:srgbClr val="D4EDD5"/>
            </a:solidFill>
            <a:prstDash val="solid"/>
          </a:ln>
        </p:spPr>
      </p:sp>
      <p:sp>
        <p:nvSpPr>
          <p:cNvPr id="66" name="Text 63"/>
          <p:cNvSpPr/>
          <p:nvPr/>
        </p:nvSpPr>
        <p:spPr>
          <a:xfrm>
            <a:off x="4736592" y="3694176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90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مواد جافة</a:t>
            </a:r>
            <a:endParaRPr lang="en-US" sz="900" dirty="0"/>
          </a:p>
        </p:txBody>
      </p:sp>
      <p:sp>
        <p:nvSpPr>
          <p:cNvPr id="67" name="Shape 64"/>
          <p:cNvSpPr/>
          <p:nvPr/>
        </p:nvSpPr>
        <p:spPr>
          <a:xfrm>
            <a:off x="6766560" y="3730752"/>
            <a:ext cx="644652" cy="20116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68" name="Text 65"/>
          <p:cNvSpPr/>
          <p:nvPr/>
        </p:nvSpPr>
        <p:spPr>
          <a:xfrm>
            <a:off x="8211312" y="3694176"/>
            <a:ext cx="594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95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21.6%</a:t>
            </a:r>
            <a:endParaRPr lang="en-US" sz="950" dirty="0"/>
          </a:p>
        </p:txBody>
      </p:sp>
      <p:sp>
        <p:nvSpPr>
          <p:cNvPr id="69" name="Shape 66"/>
          <p:cNvSpPr/>
          <p:nvPr/>
        </p:nvSpPr>
        <p:spPr>
          <a:xfrm>
            <a:off x="4663440" y="4096512"/>
            <a:ext cx="4206240" cy="384048"/>
          </a:xfrm>
          <a:prstGeom prst="rect">
            <a:avLst/>
          </a:prstGeom>
          <a:solidFill>
            <a:srgbClr val="E8F5E9"/>
          </a:solidFill>
          <a:ln w="12700">
            <a:solidFill>
              <a:srgbClr val="D4EDD5"/>
            </a:solidFill>
            <a:prstDash val="solid"/>
          </a:ln>
        </p:spPr>
      </p:sp>
      <p:sp>
        <p:nvSpPr>
          <p:cNvPr id="70" name="Text 67"/>
          <p:cNvSpPr/>
          <p:nvPr/>
        </p:nvSpPr>
        <p:spPr>
          <a:xfrm>
            <a:off x="4736592" y="4096512"/>
            <a:ext cx="405993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900" b="1" dirty="0">
                <a:solidFill>
                  <a:srgbClr val="1C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فجوة 24%+ بين الأعلى والأدنى — إعادة </a:t>
            </a:r>
            <a:r>
              <a:rPr lang="en-US" sz="900" b="1" dirty="0" err="1">
                <a:solidFill>
                  <a:srgbClr val="1C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توزيع</a:t>
            </a:r>
            <a:r>
              <a:rPr lang="en-US" sz="900" b="1" dirty="0">
                <a:solidFill>
                  <a:srgbClr val="1C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b="1" dirty="0" err="1">
                <a:solidFill>
                  <a:srgbClr val="1C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ترفع</a:t>
            </a:r>
            <a:r>
              <a:rPr lang="en-US" sz="900" b="1" dirty="0">
                <a:solidFill>
                  <a:srgbClr val="1C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00" b="1" dirty="0" err="1">
                <a:solidFill>
                  <a:srgbClr val="1C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</a:t>
            </a:r>
            <a:r>
              <a:rPr lang="en-US" sz="900" b="1" dirty="0">
                <a:solidFill>
                  <a:srgbClr val="1C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ـ Margin الكلي</a:t>
            </a:r>
            <a:endParaRPr lang="en-US" sz="900" dirty="0"/>
          </a:p>
        </p:txBody>
      </p:sp>
      <p:sp>
        <p:nvSpPr>
          <p:cNvPr id="71" name="Shape 68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C4A1E"/>
          </a:solidFill>
          <a:ln w="12700">
            <a:solidFill>
              <a:srgbClr val="1C4A1E"/>
            </a:solidFill>
            <a:prstDash val="solid"/>
          </a:ln>
        </p:spPr>
      </p:sp>
      <p:sp>
        <p:nvSpPr>
          <p:cNvPr id="72" name="Text 69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A8D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سعودي هايبرماركت  |  Moamen — Data Analyst  |  Excel &amp; Power BI &amp; Python  |  3 / 6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C4A1E"/>
          </a:solidFill>
          <a:ln w="12700">
            <a:solidFill>
              <a:srgbClr val="1C4A1E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91440"/>
            <a:ext cx="658368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0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تحليل العملاء والخصومات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365760" y="493776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8D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 · Discount Impact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274320" y="960120"/>
            <a:ext cx="8595360" cy="310896"/>
          </a:xfrm>
          <a:prstGeom prst="rect">
            <a:avLst/>
          </a:prstGeom>
          <a:solidFill>
            <a:srgbClr val="1C4A1E"/>
          </a:solidFill>
          <a:ln w="12700">
            <a:solidFill>
              <a:srgbClr val="1C4A1E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960120"/>
            <a:ext cx="85953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شرائح العملاء — Customer Segments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74320" y="1298448"/>
            <a:ext cx="2057400" cy="1207008"/>
          </a:xfrm>
          <a:prstGeom prst="rect">
            <a:avLst/>
          </a:prstGeom>
          <a:solidFill>
            <a:srgbClr val="E8F5E9"/>
          </a:solidFill>
          <a:ln w="12700">
            <a:solidFill>
              <a:srgbClr val="D4EDD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274320" y="1298448"/>
            <a:ext cx="2057400" cy="457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47472" y="1371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47472" y="166420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900" dirty="0">
                <a:solidFill>
                  <a:srgbClr val="6B7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5,068 عميل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347472" y="1865376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13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617 EGP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347472" y="210312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95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55% من الإنفاق</a:t>
            </a:r>
            <a:endParaRPr lang="en-US" sz="950" dirty="0"/>
          </a:p>
        </p:txBody>
      </p:sp>
      <p:sp>
        <p:nvSpPr>
          <p:cNvPr id="14" name="Text 11"/>
          <p:cNvSpPr/>
          <p:nvPr/>
        </p:nvSpPr>
        <p:spPr>
          <a:xfrm>
            <a:off x="347472" y="2286000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800" i="1" dirty="0">
                <a:solidFill>
                  <a:srgbClr val="6B7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الحفاظ والاستثمار</a:t>
            </a:r>
            <a:endParaRPr lang="en-US" sz="800" dirty="0"/>
          </a:p>
        </p:txBody>
      </p:sp>
      <p:sp>
        <p:nvSpPr>
          <p:cNvPr id="15" name="Shape 12"/>
          <p:cNvSpPr/>
          <p:nvPr/>
        </p:nvSpPr>
        <p:spPr>
          <a:xfrm>
            <a:off x="2450592" y="1298448"/>
            <a:ext cx="2057400" cy="1207008"/>
          </a:xfrm>
          <a:prstGeom prst="rect">
            <a:avLst/>
          </a:prstGeom>
          <a:solidFill>
            <a:srgbClr val="FFF8E1"/>
          </a:solidFill>
          <a:ln w="12700">
            <a:solidFill>
              <a:srgbClr val="D4EDD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2450592" y="1298448"/>
            <a:ext cx="2057400" cy="4572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2523744" y="1371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12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⭐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2523744" y="166420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900" dirty="0">
                <a:solidFill>
                  <a:srgbClr val="6B7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5,183 عميل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2523744" y="1865376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13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389 EGP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2523744" y="210312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95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33.6% — فرصة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2523744" y="2286000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800" i="1" dirty="0">
                <a:solidFill>
                  <a:srgbClr val="6B7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يحتاجون +228 EGP → VIP</a:t>
            </a:r>
            <a:endParaRPr lang="en-US" sz="800" dirty="0"/>
          </a:p>
        </p:txBody>
      </p:sp>
      <p:sp>
        <p:nvSpPr>
          <p:cNvPr id="22" name="Shape 19"/>
          <p:cNvSpPr/>
          <p:nvPr/>
        </p:nvSpPr>
        <p:spPr>
          <a:xfrm>
            <a:off x="4626864" y="1298448"/>
            <a:ext cx="2057400" cy="1207008"/>
          </a:xfrm>
          <a:prstGeom prst="rect">
            <a:avLst/>
          </a:prstGeom>
          <a:solidFill>
            <a:srgbClr val="F5F5F5"/>
          </a:solidFill>
          <a:ln w="12700">
            <a:solidFill>
              <a:srgbClr val="D4EDD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4626864" y="1298448"/>
            <a:ext cx="2057400" cy="45720"/>
          </a:xfrm>
          <a:prstGeom prst="rect">
            <a:avLst/>
          </a:prstGeom>
          <a:solidFill>
            <a:srgbClr val="4A8C4D"/>
          </a:solidFill>
          <a:ln w="12700">
            <a:solidFill>
              <a:srgbClr val="4A8C4D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700016" y="1371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1200" b="1" dirty="0">
                <a:solidFill>
                  <a:srgbClr val="4A8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Silver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4700016" y="166420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900" dirty="0">
                <a:solidFill>
                  <a:srgbClr val="6B7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3,163 عميل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4700016" y="1865376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13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170 EGP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4700016" y="210312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950" b="1" dirty="0">
                <a:solidFill>
                  <a:srgbClr val="4A8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9.6%</a:t>
            </a:r>
            <a:endParaRPr lang="en-US" sz="950" dirty="0"/>
          </a:p>
        </p:txBody>
      </p:sp>
      <p:sp>
        <p:nvSpPr>
          <p:cNvPr id="28" name="Text 25"/>
          <p:cNvSpPr/>
          <p:nvPr/>
        </p:nvSpPr>
        <p:spPr>
          <a:xfrm>
            <a:off x="4700016" y="2286000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800" i="1" dirty="0">
                <a:solidFill>
                  <a:srgbClr val="6B7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زيادة تكرار الشراء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>
            <a:off x="6803136" y="1298448"/>
            <a:ext cx="2057400" cy="1207008"/>
          </a:xfrm>
          <a:prstGeom prst="rect">
            <a:avLst/>
          </a:prstGeom>
          <a:solidFill>
            <a:srgbClr val="FAFAFA"/>
          </a:solidFill>
          <a:ln w="12700">
            <a:solidFill>
              <a:srgbClr val="D4EDD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7"/>
          <p:cNvSpPr/>
          <p:nvPr/>
        </p:nvSpPr>
        <p:spPr>
          <a:xfrm>
            <a:off x="6803136" y="1298448"/>
            <a:ext cx="2057400" cy="45720"/>
          </a:xfrm>
          <a:prstGeom prst="rect">
            <a:avLst/>
          </a:prstGeom>
          <a:solidFill>
            <a:srgbClr val="9E9E9E"/>
          </a:solidFill>
          <a:ln w="12700">
            <a:solidFill>
              <a:srgbClr val="9E9E9E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6876288" y="1371600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1200" b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Regular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6876288" y="1664208"/>
            <a:ext cx="1920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900" dirty="0">
                <a:solidFill>
                  <a:srgbClr val="6B7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1,586 عميل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6876288" y="1865376"/>
            <a:ext cx="1920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13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66 EGP</a:t>
            </a:r>
            <a:endParaRPr lang="en-US" sz="1300" dirty="0"/>
          </a:p>
        </p:txBody>
      </p:sp>
      <p:sp>
        <p:nvSpPr>
          <p:cNvPr id="34" name="Text 31"/>
          <p:cNvSpPr/>
          <p:nvPr/>
        </p:nvSpPr>
        <p:spPr>
          <a:xfrm>
            <a:off x="6876288" y="2103120"/>
            <a:ext cx="19202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950" b="1" dirty="0">
                <a:solidFill>
                  <a:srgbClr val="9E9E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1.7%</a:t>
            </a:r>
            <a:endParaRPr lang="en-US" sz="950" dirty="0"/>
          </a:p>
        </p:txBody>
      </p:sp>
      <p:sp>
        <p:nvSpPr>
          <p:cNvPr id="35" name="Text 32"/>
          <p:cNvSpPr/>
          <p:nvPr/>
        </p:nvSpPr>
        <p:spPr>
          <a:xfrm>
            <a:off x="6876288" y="2286000"/>
            <a:ext cx="192024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800" i="1" dirty="0">
                <a:solidFill>
                  <a:srgbClr val="6B7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برامج تعريفية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274320" y="2697480"/>
            <a:ext cx="4206240" cy="310896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274320" y="2697480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تأثير الخصم على Gross Margin</a:t>
            </a:r>
            <a:endParaRPr lang="en-US" sz="1000" dirty="0"/>
          </a:p>
        </p:txBody>
      </p:sp>
      <p:sp>
        <p:nvSpPr>
          <p:cNvPr id="38" name="Shape 35"/>
          <p:cNvSpPr/>
          <p:nvPr/>
        </p:nvSpPr>
        <p:spPr>
          <a:xfrm>
            <a:off x="274320" y="3026664"/>
            <a:ext cx="42062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DD5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365760" y="304495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100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خصم 0%</a:t>
            </a:r>
            <a:endParaRPr lang="en-US" sz="1000" dirty="0"/>
          </a:p>
        </p:txBody>
      </p:sp>
      <p:sp>
        <p:nvSpPr>
          <p:cNvPr id="40" name="Shape 37"/>
          <p:cNvSpPr/>
          <p:nvPr/>
        </p:nvSpPr>
        <p:spPr>
          <a:xfrm>
            <a:off x="1664208" y="3072384"/>
            <a:ext cx="2194560" cy="201168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840480" y="3044952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10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35.0%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274320" y="3374136"/>
            <a:ext cx="4206240" cy="320040"/>
          </a:xfrm>
          <a:prstGeom prst="rect">
            <a:avLst/>
          </a:prstGeom>
          <a:solidFill>
            <a:srgbClr val="E8F5E9"/>
          </a:solidFill>
          <a:ln w="12700">
            <a:solidFill>
              <a:srgbClr val="D4EDD5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365760" y="339242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100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خصم 5%</a:t>
            </a:r>
            <a:endParaRPr lang="en-US" sz="1000" dirty="0"/>
          </a:p>
        </p:txBody>
      </p:sp>
      <p:sp>
        <p:nvSpPr>
          <p:cNvPr id="44" name="Shape 41"/>
          <p:cNvSpPr/>
          <p:nvPr/>
        </p:nvSpPr>
        <p:spPr>
          <a:xfrm>
            <a:off x="1664208" y="3419856"/>
            <a:ext cx="1981374" cy="201168"/>
          </a:xfrm>
          <a:prstGeom prst="rect">
            <a:avLst/>
          </a:prstGeom>
          <a:solidFill>
            <a:srgbClr val="4A8C4D"/>
          </a:solidFill>
          <a:ln w="12700">
            <a:solidFill>
              <a:srgbClr val="4A8C4D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3840480" y="3392424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1000" b="1" dirty="0">
                <a:solidFill>
                  <a:srgbClr val="4A8C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31.6%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274320" y="3721608"/>
            <a:ext cx="42062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DD5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365760" y="3739896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100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خصم 10%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1664208" y="3767328"/>
            <a:ext cx="1749378" cy="201168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3840480" y="3739896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10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27.9%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274320" y="4069080"/>
            <a:ext cx="4206240" cy="320040"/>
          </a:xfrm>
          <a:prstGeom prst="rect">
            <a:avLst/>
          </a:prstGeom>
          <a:solidFill>
            <a:srgbClr val="E8F5E9"/>
          </a:solidFill>
          <a:ln w="12700">
            <a:solidFill>
              <a:srgbClr val="D4EDD5"/>
            </a:solidFill>
            <a:prstDash val="solid"/>
          </a:ln>
        </p:spPr>
      </p:sp>
      <p:sp>
        <p:nvSpPr>
          <p:cNvPr id="51" name="Text 48"/>
          <p:cNvSpPr/>
          <p:nvPr/>
        </p:nvSpPr>
        <p:spPr>
          <a:xfrm>
            <a:off x="365760" y="408736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100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خصم 15%</a:t>
            </a:r>
            <a:endParaRPr lang="en-US" sz="1000" dirty="0"/>
          </a:p>
        </p:txBody>
      </p:sp>
      <p:sp>
        <p:nvSpPr>
          <p:cNvPr id="52" name="Shape 49"/>
          <p:cNvSpPr/>
          <p:nvPr/>
        </p:nvSpPr>
        <p:spPr>
          <a:xfrm>
            <a:off x="1664208" y="4114800"/>
            <a:ext cx="1442139" cy="201168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3840480" y="4087368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10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23.0%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274320" y="4416552"/>
            <a:ext cx="420624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DD5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365760" y="443484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1000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خصم 20%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1664208" y="4462272"/>
            <a:ext cx="1191333" cy="201168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57" name="Text 54"/>
          <p:cNvSpPr/>
          <p:nvPr/>
        </p:nvSpPr>
        <p:spPr>
          <a:xfrm>
            <a:off x="3840480" y="4434840"/>
            <a:ext cx="594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1000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19.0%</a:t>
            </a:r>
            <a:endParaRPr lang="en-US" sz="1000" dirty="0"/>
          </a:p>
        </p:txBody>
      </p:sp>
      <p:sp>
        <p:nvSpPr>
          <p:cNvPr id="58" name="Shape 55"/>
          <p:cNvSpPr/>
          <p:nvPr/>
        </p:nvSpPr>
        <p:spPr>
          <a:xfrm>
            <a:off x="4663440" y="2697480"/>
            <a:ext cx="4206240" cy="1993392"/>
          </a:xfrm>
          <a:prstGeom prst="rect">
            <a:avLst/>
          </a:prstGeom>
          <a:solidFill>
            <a:srgbClr val="1C4A1E"/>
          </a:solidFill>
          <a:ln w="12700">
            <a:solidFill>
              <a:srgbClr val="1C4A1E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4754880" y="276148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rtl="1">
              <a:buNone/>
            </a:pPr>
            <a:r>
              <a:rPr lang="en-US" sz="1100" b="1" dirty="0">
                <a:solidFill>
                  <a:srgbClr val="C896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الـ Key Insight</a:t>
            </a:r>
            <a:endParaRPr lang="en-US" sz="1100" dirty="0"/>
          </a:p>
        </p:txBody>
      </p:sp>
      <p:sp>
        <p:nvSpPr>
          <p:cNvPr id="60" name="Text 57"/>
          <p:cNvSpPr/>
          <p:nvPr/>
        </p:nvSpPr>
        <p:spPr>
          <a:xfrm>
            <a:off x="4754880" y="3072384"/>
            <a:ext cx="4023360" cy="14813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rtl="1">
              <a:lnSpc>
                <a:spcPct val="15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VIP (5,068 عميل) = 55% من الإنفاق الكلي.</a:t>
            </a:r>
            <a:endParaRPr lang="en-US" sz="1000" dirty="0"/>
          </a:p>
          <a:p>
            <a:pPr marL="0" indent="0" rtl="1">
              <a:lnSpc>
                <a:spcPct val="150000"/>
              </a:lnSpc>
              <a:buNone/>
            </a:pPr>
            <a:endParaRPr lang="en-US" sz="1000" dirty="0"/>
          </a:p>
          <a:p>
            <a:pPr marL="0" indent="0" rtl="1">
              <a:lnSpc>
                <a:spcPct val="15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 (5,183 عميل) يحتاجون +228 EGP بس للوصول لـ VIP.</a:t>
            </a:r>
            <a:endParaRPr lang="en-US" sz="1000" dirty="0"/>
          </a:p>
          <a:p>
            <a:pPr marL="0" indent="0" rtl="1">
              <a:lnSpc>
                <a:spcPct val="150000"/>
              </a:lnSpc>
              <a:buNone/>
            </a:pPr>
            <a:endParaRPr lang="en-US" sz="1000" dirty="0"/>
          </a:p>
          <a:p>
            <a:pPr marL="0" indent="0" rtl="1">
              <a:lnSpc>
                <a:spcPct val="15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برنامج ولاء بسيط يرفع الإيراد من أعلى Segment مباشرة.</a:t>
            </a:r>
            <a:endParaRPr lang="en-US" sz="1000" dirty="0"/>
          </a:p>
        </p:txBody>
      </p:sp>
      <p:sp>
        <p:nvSpPr>
          <p:cNvPr id="61" name="Shape 58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C4A1E"/>
          </a:solidFill>
          <a:ln w="12700">
            <a:solidFill>
              <a:srgbClr val="1C4A1E"/>
            </a:solidFill>
            <a:prstDash val="solid"/>
          </a:ln>
        </p:spPr>
      </p:sp>
      <p:sp>
        <p:nvSpPr>
          <p:cNvPr id="62" name="Text 59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A8D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سعودي هايبرماركت  |  Moamen — Data Analyst  |  Excel &amp; Power BI &amp; Python |  4 / 6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1C4A1E"/>
          </a:solidFill>
          <a:ln w="12700">
            <a:solidFill>
              <a:srgbClr val="1C4A1E"/>
            </a:solidFill>
            <a:prstDash val="solid"/>
          </a:ln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91440"/>
            <a:ext cx="658368" cy="65836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65760" y="0"/>
            <a:ext cx="7680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rtl="1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الـ Insights والتوصيات</a:t>
            </a:r>
            <a:endParaRPr lang="en-US" sz="1700" dirty="0"/>
          </a:p>
        </p:txBody>
      </p:sp>
      <p:sp>
        <p:nvSpPr>
          <p:cNvPr id="5" name="Text 2"/>
          <p:cNvSpPr/>
          <p:nvPr/>
        </p:nvSpPr>
        <p:spPr>
          <a:xfrm>
            <a:off x="365760" y="493776"/>
            <a:ext cx="7680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A8D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 &amp; Recommendations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274320" y="978408"/>
            <a:ext cx="85953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DD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274320" y="978408"/>
            <a:ext cx="45720" cy="73152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384048" y="1143000"/>
            <a:ext cx="384048" cy="384048"/>
          </a:xfrm>
          <a:prstGeom prst="ellipse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84048" y="11430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rtl="1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859536" y="1033272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rtl="1">
              <a:buNone/>
            </a:pPr>
            <a:r>
              <a:rPr lang="en-US" sz="10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نمو مستمر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859536" y="136245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rtl="1">
              <a:buNone/>
            </a:pPr>
            <a:r>
              <a:rPr lang="en-US" sz="850" dirty="0">
                <a:solidFill>
                  <a:srgbClr val="6B7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+13% في 2023 مع تحسن Margin من 23.8% لـ 39% — الشركة في مرحلة نضج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669280" y="1088136"/>
            <a:ext cx="3127248" cy="493776"/>
          </a:xfrm>
          <a:prstGeom prst="rect">
            <a:avLst/>
          </a:prstGeom>
          <a:solidFill>
            <a:srgbClr val="E8F5E9"/>
          </a:solidFill>
          <a:ln w="12700">
            <a:solidFill>
              <a:srgbClr val="D4EDD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742432" y="1088136"/>
            <a:ext cx="29809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rtl="1">
              <a:buNone/>
            </a:pPr>
            <a:r>
              <a:rPr lang="en-US" sz="900" b="1" dirty="0">
                <a:solidFill>
                  <a:srgbClr val="1C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التوسع في Urban — مدينة نصر أولاً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74320" y="1783080"/>
            <a:ext cx="85953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DD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274320" y="1783080"/>
            <a:ext cx="45720" cy="73152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384048" y="1947672"/>
            <a:ext cx="384048" cy="384048"/>
          </a:xfrm>
          <a:prstGeom prst="ellipse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84048" y="19476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rtl="1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59536" y="1837944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rtl="1">
              <a:buNone/>
            </a:pPr>
            <a:r>
              <a:rPr lang="en-US" sz="10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فرصة Gold → VIP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859536" y="216712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rtl="1">
              <a:buNone/>
            </a:pPr>
            <a:r>
              <a:rPr lang="en-US" sz="850" dirty="0">
                <a:solidFill>
                  <a:srgbClr val="6B7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5,183 عميل يحتاجون +228 EGP فقط للوصول لـ VIP Segment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5669280" y="1892808"/>
            <a:ext cx="3127248" cy="493776"/>
          </a:xfrm>
          <a:prstGeom prst="rect">
            <a:avLst/>
          </a:prstGeom>
          <a:solidFill>
            <a:srgbClr val="E8F5E9"/>
          </a:solidFill>
          <a:ln w="12700">
            <a:solidFill>
              <a:srgbClr val="D4EDD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742432" y="1892808"/>
            <a:ext cx="29809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rtl="1">
              <a:buNone/>
            </a:pPr>
            <a:r>
              <a:rPr lang="en-US" sz="900" b="1" dirty="0">
                <a:solidFill>
                  <a:srgbClr val="1C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برنامج نقاط ولاء أو عرض شهري مخصص</a:t>
            </a:r>
            <a:endParaRPr lang="en-US" sz="900" dirty="0"/>
          </a:p>
        </p:txBody>
      </p:sp>
      <p:sp>
        <p:nvSpPr>
          <p:cNvPr id="22" name="Shape 19"/>
          <p:cNvSpPr/>
          <p:nvPr/>
        </p:nvSpPr>
        <p:spPr>
          <a:xfrm>
            <a:off x="274320" y="2587752"/>
            <a:ext cx="85953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DD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274320" y="2587752"/>
            <a:ext cx="45720" cy="731520"/>
          </a:xfrm>
          <a:prstGeom prst="rect">
            <a:avLst/>
          </a:prstGeom>
          <a:solidFill>
            <a:srgbClr val="1C4A1E"/>
          </a:solidFill>
          <a:ln w="12700">
            <a:solidFill>
              <a:srgbClr val="1C4A1E"/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384048" y="2752344"/>
            <a:ext cx="384048" cy="384048"/>
          </a:xfrm>
          <a:prstGeom prst="ellipse">
            <a:avLst/>
          </a:prstGeom>
          <a:solidFill>
            <a:srgbClr val="1C4A1E"/>
          </a:solidFill>
          <a:ln w="12700">
            <a:solidFill>
              <a:srgbClr val="1C4A1E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384048" y="27523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rtl="1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859536" y="2642616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rtl="1">
              <a:buNone/>
            </a:pPr>
            <a:r>
              <a:rPr lang="en-US" sz="10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مستلزمات شخصية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859536" y="297180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rtl="1">
              <a:buNone/>
            </a:pPr>
            <a:r>
              <a:rPr lang="en-US" sz="850" dirty="0">
                <a:solidFill>
                  <a:srgbClr val="6B7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45.6% — أعلى فئة بفارق كبير عن المتوسط 32%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5669280" y="2697480"/>
            <a:ext cx="3127248" cy="493776"/>
          </a:xfrm>
          <a:prstGeom prst="rect">
            <a:avLst/>
          </a:prstGeom>
          <a:solidFill>
            <a:srgbClr val="E8F5E9"/>
          </a:solidFill>
          <a:ln w="12700">
            <a:solidFill>
              <a:srgbClr val="D4EDD5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742432" y="2697480"/>
            <a:ext cx="29809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rtl="1">
              <a:buNone/>
            </a:pPr>
            <a:r>
              <a:rPr lang="en-US" sz="900" b="1" dirty="0">
                <a:solidFill>
                  <a:srgbClr val="1C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زيادة مساحة العرض في أعلى 10 فروع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274320" y="3392424"/>
            <a:ext cx="85953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DD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274320" y="3392424"/>
            <a:ext cx="45720" cy="731520"/>
          </a:xfrm>
          <a:prstGeom prst="rect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84048" y="3557016"/>
            <a:ext cx="384048" cy="384048"/>
          </a:xfrm>
          <a:prstGeom prst="ellipse">
            <a:avLst/>
          </a:prstGeom>
          <a:solidFill>
            <a:srgbClr val="B71C1C"/>
          </a:solidFill>
          <a:ln w="12700">
            <a:solidFill>
              <a:srgbClr val="B71C1C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384048" y="35570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rtl="1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34" name="Text 31"/>
          <p:cNvSpPr/>
          <p:nvPr/>
        </p:nvSpPr>
        <p:spPr>
          <a:xfrm>
            <a:off x="859536" y="3447288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rtl="1">
              <a:buNone/>
            </a:pPr>
            <a:r>
              <a:rPr lang="en-US" sz="10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خطر الخصومات</a:t>
            </a:r>
            <a:endParaRPr lang="en-US" sz="1000" dirty="0"/>
          </a:p>
        </p:txBody>
      </p:sp>
      <p:sp>
        <p:nvSpPr>
          <p:cNvPr id="35" name="Text 32"/>
          <p:cNvSpPr/>
          <p:nvPr/>
        </p:nvSpPr>
        <p:spPr>
          <a:xfrm>
            <a:off x="859536" y="377647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rtl="1">
              <a:buNone/>
            </a:pPr>
            <a:r>
              <a:rPr lang="en-US" sz="850" dirty="0">
                <a:solidFill>
                  <a:srgbClr val="6B7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خصم 20% = Margin 19% على 2,497 معاملة — خسارة مباشرة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5669280" y="3502152"/>
            <a:ext cx="3127248" cy="493776"/>
          </a:xfrm>
          <a:prstGeom prst="rect">
            <a:avLst/>
          </a:prstGeom>
          <a:solidFill>
            <a:srgbClr val="E8F5E9"/>
          </a:solidFill>
          <a:ln w="12700">
            <a:solidFill>
              <a:srgbClr val="D4EDD5"/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5742432" y="3502152"/>
            <a:ext cx="29809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rtl="1">
              <a:buNone/>
            </a:pPr>
            <a:r>
              <a:rPr lang="en-US" sz="900" b="1" dirty="0">
                <a:solidFill>
                  <a:srgbClr val="1C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استبدال الخصم بـ Bundle Offers</a:t>
            </a:r>
            <a:endParaRPr lang="en-US" sz="900" dirty="0"/>
          </a:p>
        </p:txBody>
      </p:sp>
      <p:sp>
        <p:nvSpPr>
          <p:cNvPr id="38" name="Shape 35"/>
          <p:cNvSpPr/>
          <p:nvPr/>
        </p:nvSpPr>
        <p:spPr>
          <a:xfrm>
            <a:off x="274320" y="4197096"/>
            <a:ext cx="85953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EDD5"/>
            </a:solidFill>
            <a:prstDash val="solid"/>
          </a:ln>
          <a:effectLst>
            <a:outerShdw blurRad="508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9" name="Shape 36"/>
          <p:cNvSpPr/>
          <p:nvPr/>
        </p:nvSpPr>
        <p:spPr>
          <a:xfrm>
            <a:off x="274320" y="4197096"/>
            <a:ext cx="45720" cy="731520"/>
          </a:xfrm>
          <a:prstGeom prst="rect">
            <a:avLst/>
          </a:prstGeom>
          <a:solidFill>
            <a:srgbClr val="4A8C4D"/>
          </a:solidFill>
          <a:ln w="12700">
            <a:solidFill>
              <a:srgbClr val="4A8C4D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384048" y="4361688"/>
            <a:ext cx="384048" cy="384048"/>
          </a:xfrm>
          <a:prstGeom prst="ellipse">
            <a:avLst/>
          </a:prstGeom>
          <a:solidFill>
            <a:srgbClr val="4A8C4D"/>
          </a:solidFill>
          <a:ln w="12700">
            <a:solidFill>
              <a:srgbClr val="4A8C4D"/>
            </a:solidFill>
            <a:prstDash val="solid"/>
          </a:ln>
        </p:spPr>
      </p:sp>
      <p:sp>
        <p:nvSpPr>
          <p:cNvPr id="41" name="Text 38"/>
          <p:cNvSpPr/>
          <p:nvPr/>
        </p:nvSpPr>
        <p:spPr>
          <a:xfrm>
            <a:off x="384048" y="4361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rtl="1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859536" y="425196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rtl="1">
              <a:buNone/>
            </a:pPr>
            <a:r>
              <a:rPr lang="en-US" sz="1000" b="1" dirty="0">
                <a:solidFill>
                  <a:srgbClr val="1A2E1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مخزون نافد</a:t>
            </a:r>
            <a:endParaRPr lang="en-US" sz="1000" dirty="0"/>
          </a:p>
        </p:txBody>
      </p:sp>
      <p:sp>
        <p:nvSpPr>
          <p:cNvPr id="43" name="Text 40"/>
          <p:cNvSpPr/>
          <p:nvPr/>
        </p:nvSpPr>
        <p:spPr>
          <a:xfrm>
            <a:off x="859536" y="458114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rtl="1">
              <a:buNone/>
            </a:pPr>
            <a:r>
              <a:rPr lang="en-US" sz="850" dirty="0">
                <a:solidFill>
                  <a:srgbClr val="6B7C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121 منتج نافد في 6 فروع — مبيعات ضائعة كل يوم</a:t>
            </a:r>
            <a:endParaRPr lang="en-US" sz="850" dirty="0"/>
          </a:p>
        </p:txBody>
      </p:sp>
      <p:sp>
        <p:nvSpPr>
          <p:cNvPr id="44" name="Shape 41"/>
          <p:cNvSpPr/>
          <p:nvPr/>
        </p:nvSpPr>
        <p:spPr>
          <a:xfrm>
            <a:off x="5669280" y="4306824"/>
            <a:ext cx="3127248" cy="493776"/>
          </a:xfrm>
          <a:prstGeom prst="rect">
            <a:avLst/>
          </a:prstGeom>
          <a:solidFill>
            <a:srgbClr val="E8F5E9"/>
          </a:solidFill>
          <a:ln w="12700">
            <a:solidFill>
              <a:srgbClr val="D4EDD5"/>
            </a:solidFill>
            <a:prstDash val="solid"/>
          </a:ln>
        </p:spPr>
      </p:sp>
      <p:sp>
        <p:nvSpPr>
          <p:cNvPr id="45" name="Text 42"/>
          <p:cNvSpPr/>
          <p:nvPr/>
        </p:nvSpPr>
        <p:spPr>
          <a:xfrm>
            <a:off x="5742432" y="4306824"/>
            <a:ext cx="2980944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rtl="1">
              <a:buNone/>
            </a:pPr>
            <a:r>
              <a:rPr lang="en-US" sz="900" b="1" dirty="0">
                <a:solidFill>
                  <a:srgbClr val="1C4A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أوامر طوارئ فورية للمنظفات والمجمدات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C4A1E"/>
          </a:solidFill>
          <a:ln w="12700">
            <a:solidFill>
              <a:srgbClr val="1C4A1E"/>
            </a:solidFill>
            <a:prstDash val="solid"/>
          </a:ln>
        </p:spPr>
      </p:sp>
      <p:sp>
        <p:nvSpPr>
          <p:cNvPr id="47" name="Text 44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A8D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سعودي هايبرماركت  |  Moamen — Data Analyst  |  Excel &amp; Power BI &amp; Python |  5 /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C4A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4A1E"/>
          </a:solidFill>
          <a:ln w="12700">
            <a:solidFill>
              <a:srgbClr val="1C4A1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2C5F2D"/>
          </a:solidFill>
          <a:ln w="12700">
            <a:solidFill>
              <a:srgbClr val="2C5F2D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4096512"/>
            <a:ext cx="9144000" cy="45720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49040" y="365760"/>
            <a:ext cx="1645920" cy="1645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14400" y="214884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شكراً</a:t>
            </a:r>
            <a:endParaRPr lang="en-US" sz="3800" dirty="0"/>
          </a:p>
        </p:txBody>
      </p:sp>
      <p:sp>
        <p:nvSpPr>
          <p:cNvPr id="7" name="Text 4"/>
          <p:cNvSpPr/>
          <p:nvPr/>
        </p:nvSpPr>
        <p:spPr>
          <a:xfrm>
            <a:off x="914400" y="28803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A8D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المشروع مبني بـ Excel &amp; Power B I&amp; Python · الداتا: 50,000 معاملة · 2021–2023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2743200" y="3337560"/>
            <a:ext cx="3657600" cy="27432"/>
          </a:xfrm>
          <a:prstGeom prst="rect">
            <a:avLst/>
          </a:prstGeom>
          <a:solidFill>
            <a:srgbClr val="C8960C"/>
          </a:solidFill>
          <a:ln w="12700">
            <a:solidFill>
              <a:srgbClr val="C8960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914400" y="41605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dirty="0">
                <a:solidFill>
                  <a:srgbClr val="A8D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Moamen · Data Analyst · Excel · Power BI · SQL . Python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0" y="4873752"/>
            <a:ext cx="9144000" cy="269748"/>
          </a:xfrm>
          <a:prstGeom prst="rect">
            <a:avLst/>
          </a:prstGeom>
          <a:solidFill>
            <a:srgbClr val="1C4A1E"/>
          </a:solidFill>
          <a:ln w="12700">
            <a:solidFill>
              <a:srgbClr val="1C4A1E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274320" y="4873752"/>
            <a:ext cx="8595360" cy="2697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800" dirty="0">
                <a:solidFill>
                  <a:srgbClr val="A8D5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سعودي هايبرماركت  |  Moamen — Data Analyst  |  Excel &amp; Power BI &amp; Python  |  6 / 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759</Words>
  <Application>Microsoft Office PowerPoint</Application>
  <PresentationFormat>On-screen Show (16:9)</PresentationFormat>
  <Paragraphs>199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toka mohamed</cp:lastModifiedBy>
  <cp:revision>5</cp:revision>
  <dcterms:created xsi:type="dcterms:W3CDTF">2026-03-13T13:35:37Z</dcterms:created>
  <dcterms:modified xsi:type="dcterms:W3CDTF">2026-03-13T14:10:44Z</dcterms:modified>
</cp:coreProperties>
</file>